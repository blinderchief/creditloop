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when your employee travels and the hotel bill is in their personal name, the 18% GST on it is gone — the company can never claim it. It's small each time, so nobody notices. A mid-size company loses lakhs a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company runs two systems that never talk. One knows a name; the other needs a GSTIN and invoice number. There's no link — so the credit leaks. CreditLoop is the missing join, and it decides before you pay.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claim live: the receipt it read, the verdict citing the exact section of the GST Act, and a ready-to-send vendor message in English or Hinglish. And the employee still gets paid on time — the tax problem is the company's.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100% match against the government's 2B statement. Receipt reading is real Gemini vision. And 0.06 live calls per claim: cheap claims cost nothing, live validation is spent only where money is at stake. The exception list is deliberate, not a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month reality grades us for free, on every transaction. And the vendor graph compounds across customers. That's why this is a company. It's live now — try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B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linderchief/CreditLoop/frontend/public/sea-stor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B09">
              <a:alpha val="54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8640" y="484632"/>
            <a:ext cx="310896" cy="310896"/>
          </a:xfrm>
          <a:prstGeom prst="ellipse">
            <a:avLst/>
          </a:prstGeom>
          <a:ln w="31953">
            <a:solidFill>
              <a:srgbClr val="E9B35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74553" y="455097"/>
            <a:ext cx="59070" cy="59070"/>
          </a:xfrm>
          <a:prstGeom prst="ellipse">
            <a:avLst/>
          </a:prstGeom>
          <a:solidFill>
            <a:srgbClr val="E9B357"/>
          </a:solidFill>
          <a:ln/>
        </p:spPr>
      </p:sp>
      <p:sp>
        <p:nvSpPr>
          <p:cNvPr id="6" name="Text 3"/>
          <p:cNvSpPr/>
          <p:nvPr/>
        </p:nvSpPr>
        <p:spPr>
          <a:xfrm>
            <a:off x="969264" y="4572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CreditLoop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21488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7D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FINANCE CONTROLLER · TRACK 04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514600"/>
            <a:ext cx="1072865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2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GST you’re losing,
</a:t>
            </a:r>
            <a:pPr algn="ctr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E9B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before the money moves.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1828800" y="4526280"/>
            <a:ext cx="8534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companies quietly lose 18% GST on every employee expense — one receipt in the wrong name at a time.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B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B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pipelines that never meet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12080" cy="2651760"/>
          </a:xfrm>
          <a:prstGeom prst="roundRect">
            <a:avLst>
              <a:gd name="adj" fmla="val 4138"/>
            </a:avLst>
          </a:prstGeom>
          <a:solidFill>
            <a:srgbClr val="17120C"/>
          </a:solidFill>
          <a:ln w="12700">
            <a:solidFill>
              <a:srgbClr val="2A21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762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 pipeline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60120" y="2734056"/>
            <a:ext cx="4572000" cy="0"/>
          </a:xfrm>
          <a:prstGeom prst="line">
            <a:avLst/>
          </a:prstGeom>
          <a:noFill/>
          <a:ln w="9525">
            <a:solidFill>
              <a:srgbClr val="2A21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8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2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· hotel · ₹11,800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60120" y="3300984"/>
            <a:ext cx="4572000" cy="0"/>
          </a:xfrm>
          <a:prstGeom prst="line">
            <a:avLst/>
          </a:prstGeom>
          <a:noFill/>
          <a:ln w="9525">
            <a:solidFill>
              <a:srgbClr val="2A21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355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8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33558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2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· approved in a day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60120" y="3867912"/>
            <a:ext cx="4572000" cy="0"/>
          </a:xfrm>
          <a:prstGeom prst="line">
            <a:avLst/>
          </a:prstGeom>
          <a:noFill/>
          <a:ln w="9525">
            <a:solidFill>
              <a:srgbClr val="2A21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9227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8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392277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2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name the bill is in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55080" y="1920240"/>
            <a:ext cx="5212080" cy="2651760"/>
          </a:xfrm>
          <a:prstGeom prst="roundRect">
            <a:avLst>
              <a:gd name="adj" fmla="val 4138"/>
            </a:avLst>
          </a:prstGeom>
          <a:solidFill>
            <a:srgbClr val="17120C"/>
          </a:solidFill>
          <a:ln w="12700">
            <a:solidFill>
              <a:srgbClr val="2A21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1762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B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tax pipeline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675120" y="2734056"/>
            <a:ext cx="4572000" cy="0"/>
          </a:xfrm>
          <a:prstGeom prst="line">
            <a:avLst/>
          </a:prstGeom>
          <a:noFill/>
          <a:ln w="9525">
            <a:solidFill>
              <a:srgbClr val="2A21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8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8388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2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GSTIN 27… · inv HTL/2026/4471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675120" y="3300984"/>
            <a:ext cx="4572000" cy="0"/>
          </a:xfrm>
          <a:prstGeom prst="line">
            <a:avLst/>
          </a:prstGeom>
          <a:noFill/>
          <a:ln w="9525">
            <a:solidFill>
              <a:srgbClr val="2A21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355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8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83880" y="33558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2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· owned by a CA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75120" y="3867912"/>
            <a:ext cx="4572000" cy="0"/>
          </a:xfrm>
          <a:prstGeom prst="line">
            <a:avLst/>
          </a:prstGeom>
          <a:noFill/>
          <a:ln w="9525">
            <a:solidFill>
              <a:srgbClr val="2A21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39227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8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83880" y="392277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2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GSTR-2B locks the credit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" y="4892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join key between them → 18% GST leaks, silently.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2651760" y="5532120"/>
            <a:ext cx="6858000" cy="658368"/>
          </a:xfrm>
          <a:prstGeom prst="roundRect">
            <a:avLst>
              <a:gd name="adj" fmla="val 50000"/>
            </a:avLst>
          </a:prstGeom>
          <a:solidFill>
            <a:srgbClr val="201910"/>
          </a:solidFill>
          <a:ln w="9525">
            <a:solidFill>
              <a:srgbClr val="E9B3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553212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D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CreditLoop builds the join:  claim → invoice → GSTIN → 2B → payout → book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B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loop, closed end to end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48640" cy="548640"/>
          </a:xfrm>
          <a:prstGeom prst="ellipse">
            <a:avLst/>
          </a:prstGeom>
          <a:solidFill>
            <a:srgbClr val="201910"/>
          </a:solidFill>
          <a:ln w="12700">
            <a:solidFill>
              <a:srgbClr val="E9B3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B3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receipt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89280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8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vision model (Gemini) pulls GSTIN, invoice no. and tax split off a crumpled photo — and refuses to guess when it can’t read one.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48640" cy="548640"/>
          </a:xfrm>
          <a:prstGeom prst="ellipse">
            <a:avLst/>
          </a:prstGeom>
          <a:solidFill>
            <a:srgbClr val="201910"/>
          </a:solidFill>
          <a:ln w="12700">
            <a:solidFill>
              <a:srgbClr val="E9B3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B3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8803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with the law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31012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8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engine — never an LLM — decides eligibility, citing the exact rule and version. Before payout.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548640" cy="548640"/>
          </a:xfrm>
          <a:prstGeom prst="ellipse">
            <a:avLst/>
          </a:prstGeom>
          <a:solidFill>
            <a:srgbClr val="201910"/>
          </a:solidFill>
          <a:ln w="12700">
            <a:solidFill>
              <a:srgbClr val="E9B3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B3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4297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· pay · reconcile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472744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8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 time, draft the vendor fix while it’s still possible, then match against GSTR-2B. Full audit trail.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37960" y="1371600"/>
            <a:ext cx="5029200" cy="3977640"/>
          </a:xfrm>
          <a:prstGeom prst="roundRect">
            <a:avLst>
              <a:gd name="adj" fmla="val 2299"/>
            </a:avLst>
          </a:prstGeom>
          <a:solidFill>
            <a:srgbClr val="17120C"/>
          </a:solidFill>
          <a:ln w="12700">
            <a:solidFill>
              <a:srgbClr val="2A2117"/>
            </a:solidFill>
            <a:prstDash val="solid"/>
          </a:ln>
        </p:spPr>
      </p:sp>
      <p:pic>
        <p:nvPicPr>
          <p:cNvPr id="16" name="Image 0" descr="/Users/blinderchief/CreditLoop/docs/screenshots/clai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1508760"/>
            <a:ext cx="4754880" cy="3703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7D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may never change a tax verdict or move money — it reads, drafts, and proposes; the deterministic engine decides.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B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200 hard claims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7120C"/>
          </a:solidFill>
          <a:ln w="12700">
            <a:solidFill>
              <a:srgbClr val="2A21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7276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7D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4505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8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 match rate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29000" y="14173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7120C"/>
          </a:solidFill>
          <a:ln w="12700">
            <a:solidFill>
              <a:srgbClr val="2A21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57276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7D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429000" y="24505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8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accuracy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7120C"/>
          </a:solidFill>
          <a:ln w="12700">
            <a:solidFill>
              <a:srgbClr val="2A21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57276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7D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217920" y="24505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8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 / claim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06840" y="14173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7120C"/>
          </a:solidFill>
          <a:ln w="12700">
            <a:solidFill>
              <a:srgbClr val="2A21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06840" y="157276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7D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006840" y="24505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8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false-block cost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2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exception rate is a feature.
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D8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27.5% of claims are refused — each with a machine-readable reason. An agent that always decides is an agent that guesses. Nothing fails silently.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8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17(5) precision / recall:  </a:t>
            </a:r>
            <a:pPr indent="0" marL="0">
              <a:buNone/>
            </a:pPr>
            <a:r>
              <a:rPr lang="en-US" sz="1400" b="1" dirty="0">
                <a:solidFill>
                  <a:srgbClr val="E9B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/ 100%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35040" y="3291840"/>
            <a:ext cx="5532120" cy="3063240"/>
          </a:xfrm>
          <a:prstGeom prst="roundRect">
            <a:avLst>
              <a:gd name="adj" fmla="val 2985"/>
            </a:avLst>
          </a:prstGeom>
          <a:solidFill>
            <a:srgbClr val="17120C"/>
          </a:solidFill>
          <a:ln w="12700">
            <a:solidFill>
              <a:srgbClr val="2A2117"/>
            </a:solidFill>
            <a:prstDash val="solid"/>
          </a:ln>
        </p:spPr>
      </p:sp>
      <p:pic>
        <p:nvPicPr>
          <p:cNvPr id="18" name="Image 0" descr="/Users/blinderchief/CreditLoop/docs/screenshots/metr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3429000"/>
            <a:ext cx="525780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B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75808" y="777240"/>
            <a:ext cx="640080" cy="640080"/>
          </a:xfrm>
          <a:prstGeom prst="ellipse">
            <a:avLst/>
          </a:prstGeom>
          <a:ln w="65786">
            <a:solidFill>
              <a:srgbClr val="E9B3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716432"/>
            <a:ext cx="121615" cy="121615"/>
          </a:xfrm>
          <a:prstGeom prst="ellipse">
            <a:avLst/>
          </a:prstGeom>
          <a:solidFill>
            <a:srgbClr val="E9B35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a company, not a demo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274320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17120C"/>
          </a:solidFill>
          <a:ln w="12700">
            <a:solidFill>
              <a:srgbClr val="2A21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017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B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supervision, forever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5204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2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 the government’s 2B statement tells us whether each prediction was right — a labelled signal on every transaction, at no cost.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274320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17120C"/>
          </a:solidFill>
          <a:ln w="12700">
            <a:solidFill>
              <a:srgbClr val="2A21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3017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B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moat that compounds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29400" y="35204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2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vendor-reliability we learn stitches across customers. The edge isn’t the tax logic — it’s the data only we collect by joining the two pipelines.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794760" y="5074920"/>
            <a:ext cx="4572000" cy="685800"/>
          </a:xfrm>
          <a:prstGeom prst="roundRect">
            <a:avLst>
              <a:gd name="adj" fmla="val 49333"/>
            </a:avLst>
          </a:prstGeom>
          <a:solidFill>
            <a:srgbClr val="E9B357"/>
          </a:solidFill>
          <a:ln/>
        </p:spPr>
      </p:sp>
      <p:sp>
        <p:nvSpPr>
          <p:cNvPr id="12" name="Text 10"/>
          <p:cNvSpPr/>
          <p:nvPr/>
        </p:nvSpPr>
        <p:spPr>
          <a:xfrm>
            <a:off x="3794760" y="50749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B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 → creditloop.onrender.com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8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never file  ·  money never touched  ·  deterministic law + calibrated prediction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2026-08-25T19:13:03Z</dcterms:created>
  <dcterms:modified xsi:type="dcterms:W3CDTF">2026-08-25T19:13:03Z</dcterms:modified>
</cp:coreProperties>
</file>